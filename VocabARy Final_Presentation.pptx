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9191"/>
                </a:solidFill>
              </a:defRPr>
            </a:pPr>
            <a:r>
              <a:t>CSI4005 • AUGMENTED REALITY AND VIRTUAL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VocabARy</a:t>
            </a:r>
          </a:p>
          <a:p>
            <a:pPr>
              <a:spcBef>
                <a:spcPts val="1000"/>
              </a:spcBef>
              <a:defRPr sz="2200">
                <a:solidFill>
                  <a:srgbClr val="FFFFFF"/>
                </a:solidFill>
              </a:defRPr>
            </a:pPr>
            <a:r>
              <a:t>An AR/VR-Based Multilingual Object Recognition and Gesture-Driven Language Learning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4398897" cy="8207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DCE6F0"/>
                </a:solidFill>
              </a:defRPr>
            </a:pPr>
            <a:r>
              <a:rPr dirty="0"/>
              <a:t>Hasika MD (23MID0228) and </a:t>
            </a:r>
            <a:r>
              <a:rPr lang="en-US" sz="1500" dirty="0" err="1"/>
              <a:t>Dhishitha</a:t>
            </a:r>
            <a:r>
              <a:rPr lang="en-US" sz="1500" dirty="0"/>
              <a:t> M(23MID373)</a:t>
            </a:r>
            <a:endParaRPr dirty="0"/>
          </a:p>
          <a:p>
            <a:pPr>
              <a:spcAft>
                <a:spcPts val="500"/>
              </a:spcAft>
              <a:defRPr sz="1200">
                <a:solidFill>
                  <a:srgbClr val="DCE6F0"/>
                </a:solidFill>
              </a:defRPr>
            </a:pPr>
            <a:r>
              <a:rPr dirty="0"/>
              <a:t>Integrated </a:t>
            </a:r>
            <a:r>
              <a:rPr dirty="0" err="1"/>
              <a:t>M.Tech</a:t>
            </a:r>
            <a:r>
              <a:rPr dirty="0"/>
              <a:t> Computer Science and Engineering</a:t>
            </a:r>
          </a:p>
          <a:p>
            <a:pPr>
              <a:spcAft>
                <a:spcPts val="500"/>
              </a:spcAft>
              <a:defRPr sz="1200">
                <a:solidFill>
                  <a:srgbClr val="DCE6F0"/>
                </a:solidFill>
              </a:defRPr>
            </a:pPr>
            <a:r>
              <a:rPr dirty="0"/>
              <a:t>School of Computer Science and Engineering (SCOPE), VIT Vellore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Problem and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03D"/>
                </a:solidFill>
              </a:defRPr>
            </a:pPr>
            <a:r>
              <a:t>Vocabulary lists can separate words from the real objects they describe.</a:t>
            </a:r>
          </a:p>
          <a:p>
            <a:pPr>
              <a:spcAft>
                <a:spcPts val="1200"/>
              </a:spcAft>
              <a:defRPr sz="2000">
                <a:solidFill>
                  <a:srgbClr val="26303D"/>
                </a:solidFill>
              </a:defRPr>
            </a:pPr>
            <a:r>
              <a:t>Beginners may need support with unfamiliar scripts as well as pronunciation.</a:t>
            </a:r>
          </a:p>
          <a:p>
            <a:pPr>
              <a:spcAft>
                <a:spcPts val="1200"/>
              </a:spcAft>
              <a:defRPr sz="2000">
                <a:solidFill>
                  <a:srgbClr val="26303D"/>
                </a:solidFill>
              </a:defRPr>
            </a:pPr>
            <a:r>
              <a:t>Many tools provide translation or audio, but not a single integrated workflow for seeing, speaking, and practising a word.</a:t>
            </a:r>
          </a:p>
          <a:p>
            <a:pPr>
              <a:spcAft>
                <a:spcPts val="1200"/>
              </a:spcAft>
              <a:defRPr sz="2000">
                <a:solidFill>
                  <a:srgbClr val="26303D"/>
                </a:solidFill>
              </a:defRPr>
            </a:pPr>
            <a:r>
              <a:t>Project question: can a browser-based prototype bring object recognition and multimodal vocabulary practice into one accessible interface?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Aim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D"/>
                </a:solidFill>
              </a:defRPr>
            </a:pPr>
            <a:r>
              <a:t>Aim: build a camera-based vocabulary-learning prototype that connects visible objects with target-language practice.</a:t>
            </a:r>
          </a:p>
          <a:p>
            <a:pPr>
              <a:spcAft>
                <a:spcPts val="1200"/>
              </a:spcAft>
              <a:defRPr sz="1900">
                <a:solidFill>
                  <a:srgbClr val="26303D"/>
                </a:solidFill>
              </a:defRPr>
            </a:pPr>
            <a:r>
              <a:t>Recognize common objects from a live camera stream using YOLOv5s.</a:t>
            </a:r>
          </a:p>
          <a:p>
            <a:pPr>
              <a:spcAft>
                <a:spcPts val="1200"/>
              </a:spcAft>
              <a:defRPr sz="1900">
                <a:solidFill>
                  <a:srgbClr val="26303D"/>
                </a:solidFill>
              </a:defRPr>
            </a:pPr>
            <a:r>
              <a:t>Display translated labels and romanized pronunciation aids for six listed languages.</a:t>
            </a:r>
          </a:p>
          <a:p>
            <a:pPr>
              <a:spcAft>
                <a:spcPts val="1200"/>
              </a:spcAft>
              <a:defRPr sz="1900">
                <a:solidFill>
                  <a:srgbClr val="26303D"/>
                </a:solidFill>
              </a:defRPr>
            </a:pPr>
            <a:r>
              <a:t>Provide optional speech practice and fingertip-driven air-writing with OCR feedback.</a:t>
            </a:r>
          </a:p>
          <a:p>
            <a:pPr>
              <a:spcAft>
                <a:spcPts val="1200"/>
              </a:spcAft>
              <a:defRPr sz="1900">
                <a:solidFill>
                  <a:srgbClr val="26303D"/>
                </a:solidFill>
              </a:defRPr>
            </a:pPr>
            <a:r>
              <a:t>Keep the architecture modular and usable on ordinary camera-enabled devices.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Literature themes and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AR and dual-coding research motivates contextual visual and verbal learning cues.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YOLOv5s provides a real-time object-detection component; MediaPipe supports hand-landmark tracking; Tesseract supplies OCR.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Gap targeted by this project: combine object-centred labels, transliteration, speech practice, and gesture writing in one web prototype.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Faculty requirement: 30 verified research papers for the team (15 per student). The current draft lists 20 references; the survey must be expanded and all citations verified.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System architecture and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084831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542"/>
                </a:solidFill>
              </a:defRPr>
            </a:pPr>
            <a:r>
              <a:t>1. CAMERA</a:t>
            </a:r>
          </a:p>
          <a:p>
            <a:pPr algn="ctr">
              <a:defRPr sz="1200">
                <a:solidFill>
                  <a:srgbClr val="26303D"/>
                </a:solidFill>
              </a:defRPr>
            </a:pPr>
            <a:r>
              <a:t>OpenCV frames</a:t>
            </a:r>
            <a:br/>
            <a:r>
              <a:t>640 × 480</a:t>
            </a:r>
          </a:p>
        </p:txBody>
      </p:sp>
      <p:sp>
        <p:nvSpPr>
          <p:cNvPr id="6" name="Chevron 5"/>
          <p:cNvSpPr/>
          <p:nvPr/>
        </p:nvSpPr>
        <p:spPr>
          <a:xfrm>
            <a:off x="2606040" y="2423160"/>
            <a:ext cx="201168" cy="411480"/>
          </a:xfrm>
          <a:prstGeom prst="chevron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34639" y="1965960"/>
            <a:ext cx="2084831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542"/>
                </a:solidFill>
              </a:defRPr>
            </a:pPr>
            <a:r>
              <a:t>2. DETECT</a:t>
            </a:r>
          </a:p>
          <a:p>
            <a:pPr algn="ctr">
              <a:defRPr sz="1200">
                <a:solidFill>
                  <a:srgbClr val="26303D"/>
                </a:solidFill>
              </a:defRPr>
            </a:pPr>
            <a:r>
              <a:t>YOLOv5s</a:t>
            </a:r>
            <a:br/>
            <a:r>
              <a:t>labels + boxes</a:t>
            </a:r>
          </a:p>
        </p:txBody>
      </p:sp>
      <p:sp>
        <p:nvSpPr>
          <p:cNvPr id="8" name="Chevron 7"/>
          <p:cNvSpPr/>
          <p:nvPr/>
        </p:nvSpPr>
        <p:spPr>
          <a:xfrm>
            <a:off x="4937759" y="2423160"/>
            <a:ext cx="201168" cy="411480"/>
          </a:xfrm>
          <a:prstGeom prst="chevron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66359" y="1965960"/>
            <a:ext cx="2084831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542"/>
                </a:solidFill>
              </a:defRPr>
            </a:pPr>
            <a:r>
              <a:t>3. LANGUAGE</a:t>
            </a:r>
          </a:p>
          <a:p>
            <a:pPr algn="ctr">
              <a:defRPr sz="1200">
                <a:solidFill>
                  <a:srgbClr val="26303D"/>
                </a:solidFill>
              </a:defRPr>
            </a:pPr>
            <a:r>
              <a:t>Local dictionary</a:t>
            </a:r>
            <a:br/>
            <a:r>
              <a:t>API fallbacks</a:t>
            </a:r>
          </a:p>
        </p:txBody>
      </p:sp>
      <p:sp>
        <p:nvSpPr>
          <p:cNvPr id="10" name="Chevron 9"/>
          <p:cNvSpPr/>
          <p:nvPr/>
        </p:nvSpPr>
        <p:spPr>
          <a:xfrm>
            <a:off x="7269479" y="2423160"/>
            <a:ext cx="201168" cy="411480"/>
          </a:xfrm>
          <a:prstGeom prst="chevron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98079" y="1965960"/>
            <a:ext cx="2084831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542"/>
                </a:solidFill>
              </a:defRPr>
            </a:pPr>
            <a:r>
              <a:t>4. PRACTISE</a:t>
            </a:r>
          </a:p>
          <a:p>
            <a:pPr algn="ctr">
              <a:defRPr sz="1200">
                <a:solidFill>
                  <a:srgbClr val="26303D"/>
                </a:solidFill>
              </a:defRPr>
            </a:pPr>
            <a:r>
              <a:t>Romanization</a:t>
            </a:r>
            <a:br/>
            <a:r>
              <a:t>Speech interface</a:t>
            </a:r>
          </a:p>
        </p:txBody>
      </p:sp>
      <p:sp>
        <p:nvSpPr>
          <p:cNvPr id="12" name="Chevron 11"/>
          <p:cNvSpPr/>
          <p:nvPr/>
        </p:nvSpPr>
        <p:spPr>
          <a:xfrm>
            <a:off x="9601200" y="2423160"/>
            <a:ext cx="201168" cy="411480"/>
          </a:xfrm>
          <a:prstGeom prst="chevron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829800" y="1965960"/>
            <a:ext cx="2084831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542"/>
                </a:solidFill>
              </a:defRPr>
            </a:pPr>
            <a:r>
              <a:t>5. WRITE</a:t>
            </a:r>
          </a:p>
          <a:p>
            <a:pPr algn="ctr">
              <a:defRPr sz="1200">
                <a:solidFill>
                  <a:srgbClr val="26303D"/>
                </a:solidFill>
              </a:defRPr>
            </a:pPr>
            <a:r>
              <a:t>MediaPipe</a:t>
            </a:r>
            <a:br/>
            <a:r>
              <a:t>Canvas + 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32542"/>
                </a:solidFill>
              </a:defRPr>
            </a:pPr>
            <a:r>
              <a:t>Django web layer • browser UI • optional SQLite progress</a:t>
            </a:r>
          </a:p>
          <a:p>
            <a:pPr algn="ctr">
              <a:defRPr sz="1600">
                <a:solidFill>
                  <a:srgbClr val="26303D"/>
                </a:solidFill>
              </a:defRPr>
            </a:pPr>
            <a:r>
              <a:t>Learner receives a translated label, pronunciation support, and optional writing feedback.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Methodology: detection and language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Capture camera frames and convert BGR to RGB before inference.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YOLOv5s returns class labels, bounding boxes, and confidence scores; the draft specifies a 0.35 confidence threshold.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Try a local dictionary first, then configured translation services if needed.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Use Indic transliteration or Japanese romanization only where the relevant library and language path are supported.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Important limitation: API fallback tiers require connectivity; a local dictionary does not make every feature fully offline.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Methodology: speaking and air-writing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Browser speech interfaces can play a target word and capture learner speech where supported.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The draft compares recognized text with a target using normalized edit distance; this is a text-similarity proxy, not a complete phonetic assessment.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MediaPipe Hands tracks 21 landmarks; index fingertip landmark 8 drives the canvas stroke.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Tesseract OCR may read the resulting raster, but mid-air strokes can be noisy and need preprocessing.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Keep touch/mouse drawing as an accessibility fallback and show clear camera/microphone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Reported prototype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32542"/>
                </a:solidFill>
              </a:defRPr>
            </a:pPr>
            <a:r>
              <a:t>32.4 ms</a:t>
            </a:r>
          </a:p>
          <a:p>
            <a:pPr algn="ctr">
              <a:defRPr sz="1300">
                <a:solidFill>
                  <a:srgbClr val="26303D"/>
                </a:solidFill>
              </a:defRPr>
            </a:pPr>
            <a:r>
              <a:t>Detection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00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32542"/>
                </a:solidFill>
              </a:defRPr>
            </a:pPr>
            <a:r>
              <a:t>91.2%</a:t>
            </a:r>
          </a:p>
          <a:p>
            <a:pPr algn="ctr">
              <a:defRPr sz="1300">
                <a:solidFill>
                  <a:srgbClr val="26303D"/>
                </a:solidFill>
              </a:defRPr>
            </a:pPr>
            <a:r>
              <a:t>mAP@0.5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600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32542"/>
                </a:solidFill>
              </a:defRPr>
            </a:pPr>
            <a:r>
              <a:t>95.6%</a:t>
            </a:r>
          </a:p>
          <a:p>
            <a:pPr algn="ctr">
              <a:defRPr sz="1300">
                <a:solidFill>
                  <a:srgbClr val="26303D"/>
                </a:solidFill>
              </a:defRPr>
            </a:pPr>
            <a:r>
              <a:t>Transliteration fidelity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32542"/>
                </a:solidFill>
              </a:defRPr>
            </a:pPr>
            <a:r>
              <a:t>89.4%</a:t>
            </a:r>
          </a:p>
          <a:p>
            <a:pPr algn="ctr">
              <a:defRPr sz="1300">
                <a:solidFill>
                  <a:srgbClr val="26303D"/>
                </a:solidFill>
              </a:defRPr>
            </a:pPr>
            <a:r>
              <a:t>Speech 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32542"/>
                </a:solidFill>
              </a:defRPr>
            </a:pPr>
            <a:r>
              <a:t>82.6%</a:t>
            </a:r>
          </a:p>
          <a:p>
            <a:pPr algn="ctr">
              <a:defRPr sz="1300">
                <a:solidFill>
                  <a:srgbClr val="26303D"/>
                </a:solidFill>
              </a:defRPr>
            </a:pPr>
            <a:r>
              <a:t>Air-writing match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56616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00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32542"/>
                </a:solidFill>
              </a:defRPr>
            </a:pPr>
            <a:r>
              <a:t>680 MB</a:t>
            </a:r>
          </a:p>
          <a:p>
            <a:pPr algn="ctr">
              <a:defRPr sz="1300">
                <a:solidFill>
                  <a:srgbClr val="26303D"/>
                </a:solidFill>
              </a:defRPr>
            </a:pPr>
            <a:r>
              <a:t>Memory footprint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64B14"/>
                </a:solidFill>
              </a:defRPr>
            </a:pPr>
            <a:r>
              <a:t>Evidence note: values are reproduced from the supplied draft and require a documented, repeatable test protocol.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Comparison and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Flashcards: low cost and offline, but no automatic live object detection or integrated speech/gesture workflow.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General visual translators: useful for translation, but features and connectivity depend on the product/version.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Language-learning apps: structured lessons and audio may be available, but workflows differ across products.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VocabARy contribution: integrates live object labels, multilingual support, romanization, speech practice, and gesture writing in one prototype.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Novelty claim should be limited to the integration unless a systematic, verified comparison proves a stronger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Limitations and validation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Model classes, lighting, occlusion, browser support, translation quality, and OCR noise affect performance.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Current materials do not include raw datasets, trial counts, evaluation scripts, confidence intervals, or a learner study.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Repeat tests with documented hardware/software, dataset splits, language references, speaker counts, and OCR scoring rules.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Evaluate learning with a pre-test/post-test and a comparison group; report sample size and delayed recall.</a:t>
            </a:r>
          </a:p>
          <a:p>
            <a:pPr>
              <a:spcAft>
                <a:spcPts val="1200"/>
              </a:spcAft>
              <a:defRPr sz="1700">
                <a:solidFill>
                  <a:srgbClr val="26303D"/>
                </a:solidFill>
              </a:defRPr>
            </a:pPr>
            <a:r>
              <a:t>Verify 30 distinct references, cite each in the literature review, and attach the plagiarism report required by the faculty.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Conclusion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VocabARy connects real-world objects with multilingual vocabulary practice through computer vision and multimodal interaction.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The project’s strength is its integrated workflow and focus on regional Indian languages alongside French and Japanese.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Reported technical figures are promising but should be treated as preliminary until reproduced transparently.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Future work: stronger OCR preprocessing, curated translations, WebXR spatial anchoring, offline speech models, and controlled learner evaluation.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9191"/>
                </a:solidFill>
              </a:defRPr>
            </a:pPr>
            <a:r>
              <a:t>VOCABARY | CSI4005 AR/VR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542"/>
                </a:solidFill>
              </a:defRPr>
            </a:pPr>
            <a:r>
              <a:t>Demo and viva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1. Start the Django server and open the local URL in a supported browser.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2. Grant camera permission and show object detection on a common object.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3. Change the target language and explain the label / transliteration.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4. Demonstrate speech playback or recognition if supported by the browser.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5. Enable air-writing, draw a simple character, and show OCR feedback if working.</a:t>
            </a:r>
          </a:p>
          <a:p>
            <a:pPr>
              <a:spcAft>
                <a:spcPts val="1200"/>
              </a:spcAft>
              <a:defRPr sz="1800">
                <a:solidFill>
                  <a:srgbClr val="26303D"/>
                </a:solidFill>
              </a:defRPr>
            </a:pPr>
            <a:r>
              <a:t>6. State honestly which features are implemented, which are experimental, and which remain future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8288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D6978"/>
                </a:solidFill>
              </a:defRPr>
            </a:pPr>
            <a:r>
              <a:t>VIT • Integrated M.Tech CSE • Final Review         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1145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Hasika MD</cp:lastModifiedBy>
  <cp:revision>2</cp:revision>
  <dcterms:created xsi:type="dcterms:W3CDTF">2013-01-27T09:14:16Z</dcterms:created>
  <dcterms:modified xsi:type="dcterms:W3CDTF">2026-10-25T16:02:15Z</dcterms:modified>
  <cp:category/>
</cp:coreProperties>
</file>