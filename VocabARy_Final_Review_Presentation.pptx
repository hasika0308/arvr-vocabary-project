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292608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38BDF8"/>
                </a:solidFill>
              </a:defRPr>
            </a:pPr>
            <a:r>
              <a:rPr dirty="0"/>
              <a:t>FINAL REVIEW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EC4899"/>
                </a:solidFill>
              </a:defRPr>
            </a:pPr>
            <a:r>
              <a:t>VocabARy</a:t>
            </a:r>
          </a:p>
          <a:p>
            <a:pPr>
              <a:defRPr sz="2200" b="1">
                <a:solidFill>
                  <a:srgbClr val="F8FAFC"/>
                </a:solidFill>
              </a:defRPr>
            </a:pPr>
            <a:r>
              <a:t>An AR/VR-Based Multilingual Object Recognition and Gesture-Driven Language Learning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106984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74320" rtlCol="0" anchor="ctr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rPr dirty="0"/>
              <a:t>Presented By:  HASIKA MD (</a:t>
            </a:r>
            <a:r>
              <a:t>23MID0228)</a:t>
            </a:r>
            <a:r>
              <a:rPr lang="en-US"/>
              <a:t>, DHISHITHA </a:t>
            </a:r>
            <a:endParaRPr dirty="0"/>
          </a:p>
          <a:p>
            <a:pPr>
              <a:defRPr sz="1400">
                <a:solidFill>
                  <a:srgbClr val="F8FAFC"/>
                </a:solidFill>
              </a:defRPr>
            </a:pPr>
            <a:r>
              <a:rPr dirty="0"/>
              <a:t>Integrated </a:t>
            </a:r>
            <a:r>
              <a:rPr dirty="0" err="1"/>
              <a:t>M.Tech</a:t>
            </a:r>
            <a:r>
              <a:rPr dirty="0"/>
              <a:t> Computer Science and Engineering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rPr dirty="0"/>
              <a:t>School of Computer Science and Engineering (SCOPE) | Vellore Institute of Technology (VIT)</a:t>
            </a:r>
          </a:p>
          <a:p>
            <a:pPr>
              <a:defRPr sz="1300">
                <a:solidFill>
                  <a:srgbClr val="22C55E"/>
                </a:solidFill>
              </a:defRPr>
            </a:pPr>
            <a:r>
              <a:rPr dirty="0"/>
              <a:t>Course: CSI4005 – Augmented Reality and Virtual Reality | J-Component Final Assessment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Problem Statement &amp; Educational Motivation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Current Pedagogical Limitations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Rote Textbook Memorization: Separates words from the physical 3D world, leading to low retention and student boredom.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Script &amp; Typographical Barrier: Native Indic scripts (Tamil, Telugu, Hindi) discourage beginner learners who cannot read the typography.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Lack of Real-Time Multi-Sensory Cues: Passive apps fail to engage auditory speaking or kinesthetic writing modalities simultaneously.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Expensive Hardware Reliance: Most prior AR solutions demand costly headsets ($3,000+), preventing widespread classroom adoption.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The VocabARy Innovation &amp; Dual Coding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Contextual Spatial Association: Paivio's Dual-Coding Theory proves visual-verbal pairing doubles memory retention.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Everyday Camera Integration: Turns any commodity laptop or smartphone camera into an active multi-sensory tutor.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Phonetic Transliteration: Converts complex native scripts to phonetic Romanized text (ITRANS / Romaji) for instant speaking.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Kinesthetic Air-Writing: Integrates MediaPipe fingertip tracking to practice handwriting words mid-air with OCR feedback.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Core Project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1. Real-Time Object Detection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Deploy lightweight YOLOv5s deep learning model to recognize 80+ everyday objects at 30 FPS with sub-50ms latency.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5603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400" b="1">
                <a:solidFill>
                  <a:srgbClr val="EC4899"/>
                </a:solidFill>
              </a:defRPr>
            </a:pPr>
            <a:r>
              <a:t>2. Multilingual Translation &amp; Transliteration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Seamlessly translate detected objects across 6 languages (Tamil, Telugu, Kannada, Hindi, French, Japanese) with phonetic ITRANS/Romaji transliteration.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4747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400" b="1">
                <a:solidFill>
                  <a:srgbClr val="22C55E"/>
                </a:solidFill>
              </a:defRPr>
            </a:pPr>
            <a:r>
              <a:t>3. Auditory Speech Feedback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Leverage Web Speech API and Text-to-Speech to score spoken pronunciation accuracy using normalized Levenshtein distance metrics.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3891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400" b="1">
                <a:solidFill>
                  <a:srgbClr val="38BDF8"/>
                </a:solidFill>
              </a:defRPr>
            </a:pPr>
            <a:r>
              <a:t>4. Kinesthetic Air-Writing via MediaPipe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Track user index fingertip in 3D air space to draw words touchlessly, verified with Tesseract OCR for handwriting accuracy.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303520"/>
            <a:ext cx="10698480" cy="77724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37160" rtlCol="0" anchor="ctr"/>
          <a:lstStyle/>
          <a:p>
            <a:pPr algn="ctr">
              <a:defRPr sz="1400" b="1">
                <a:solidFill>
                  <a:srgbClr val="EC4899"/>
                </a:solidFill>
              </a:defRPr>
            </a:pPr>
            <a:r>
              <a:t>5. Fault-Tolerant Browser Architecture</a:t>
            </a:r>
          </a:p>
          <a:p>
            <a:pPr>
              <a:defRPr sz="1200">
                <a:solidFill>
                  <a:srgbClr val="F8FAFC"/>
                </a:solidFill>
              </a:defRPr>
            </a:pPr>
            <a:r>
              <a:t>Build an offline-capable, resilient multi-tier fallback pipeline with persistent SQLite database gamification (+10 pts per mastered word).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Literature Survey &amp; Base Paper Identification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Identified Base Papers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Base Paper 1 (Object Detection in AR): YOLOv5 Real-Time Perception Pipeline (Jocher et al., Ultralytics, 2022). Established the single-stage anchor-based object detection framework.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Base Paper 2 (AR in Vocabulary Teaching): Idul &amp; Syaiful (2024), 'Augmented Reality in The Classroom: Revolutionizing Vocabulary Teaching'. Explored visual overlay benefits but relied on static QR cards.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Base Paper 3 (Touchless Gesture Interfaces): Lugaresi et al. (Google Research, 2019), 'MediaPipe: A Framework for Perception Pipelines'. Established 21-point hand landmark regression.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Gaps in Existing Literature &amp; Our Solutions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Gap 1: Prior AR language apps require pre-printed QR markers. -&gt; VocabARy uses markerless deep learning on any live object.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Gap 2: Neglect of Indic languages and phonetics. -&gt; VocabARy provides native ITRANS transliteration for Tamil, Telugu, Kannada, Hindi.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Gap 3: Passive reading without speech evaluation. -&gt; VocabARy integrates bi-directional Text-to-Speech + Web Speech API scoring.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Gap 4: No handwriting/kinesthetic practice. -&gt; VocabARy pioneers fingertip air-writing with Tesseract OCR validation.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End-to-End System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1. CAMERA INPUT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OpenCV VideoCapture(0)</a:t>
            </a:r>
            <a:br/>
            <a:r>
              <a:t>RGB Frame Stream</a:t>
            </a:r>
            <a:br/>
            <a:r>
              <a:t>640x480 @ 30 FPS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0" rtlCol="0" anchor="ctr"/>
          <a:lstStyle/>
          <a:p>
            <a:pPr algn="ctr">
              <a:defRPr sz="1300" b="1">
                <a:solidFill>
                  <a:srgbClr val="EC4899"/>
                </a:solidFill>
              </a:defRPr>
            </a:pPr>
            <a:r>
              <a:t>2. YOLOv5s DEEP LEARNING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PyTorch YOLOv5s Hub</a:t>
            </a:r>
            <a:br/>
            <a:r>
              <a:t>Confidence &gt;= 0.35</a:t>
            </a:r>
            <a:br/>
            <a:r>
              <a:t>80 COCO Object Classes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0" rtlCol="0" anchor="ctr"/>
          <a:lstStyle/>
          <a:p>
            <a:pPr algn="ctr">
              <a:defRPr sz="1300" b="1">
                <a:solidFill>
                  <a:srgbClr val="22C55E"/>
                </a:solidFill>
              </a:defRPr>
            </a:pPr>
            <a:r>
              <a:t>3. MULTI-TIER TRANSLATION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Tier 1: Pre-loaded Dict</a:t>
            </a:r>
            <a:br/>
            <a:r>
              <a:t>Tier 2: GoogleTranslator</a:t>
            </a:r>
            <a:br/>
            <a:r>
              <a:t>Tier 3: MyMemory API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199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0" rtlCol="0" anchor="ctr"/>
          <a:lstStyle/>
          <a:p>
            <a:pPr algn="ctr">
              <a:defRPr sz="1300" b="1">
                <a:solidFill>
                  <a:srgbClr val="38BDF8"/>
                </a:solidFill>
              </a:defRPr>
            </a:pPr>
            <a:r>
              <a:t>4. INDIC &amp; ROMAJI TRANSLIT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indic-transliteration (ITRANS)</a:t>
            </a:r>
            <a:br/>
            <a:r>
              <a:t>pykakasi (Hepburn Romaji)</a:t>
            </a:r>
            <a:br/>
            <a:r>
              <a:t>Phonetic Latin Script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509760" y="2011680"/>
            <a:ext cx="2011680" cy="38404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37160" tIns="182880" rtlCol="0" anchor="ctr"/>
          <a:lstStyle/>
          <a:p>
            <a:pPr algn="ctr">
              <a:defRPr sz="1300" b="1">
                <a:solidFill>
                  <a:srgbClr val="EC4899"/>
                </a:solidFill>
              </a:defRPr>
            </a:pPr>
            <a:r>
              <a:t>5. MULTI-MODAL INTERACTION</a:t>
            </a:r>
          </a:p>
          <a:p>
            <a:pPr>
              <a:spcBef>
                <a:spcPts val="1200"/>
              </a:spcBef>
              <a:defRPr sz="1100">
                <a:solidFill>
                  <a:srgbClr val="F8FAFC"/>
                </a:solidFill>
              </a:defRPr>
            </a:pPr>
            <a:r>
              <a:t>• AR HUD Live Card Overlay</a:t>
            </a:r>
            <a:br/>
            <a:r>
              <a:t>• Web Speech API Pronunciation</a:t>
            </a:r>
            <a:br/>
            <a:r>
              <a:t>• MediaPipe Air-Writing OCR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Methodology: Object Recognition &amp; Resilient Translation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YOLOv5s Object Detection Pipeline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Lightweight Architecture: 7.2M parameters, 16.4 GFLOPs optimized for CPU/GPU inference without frame drop.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Real-Time Stream Processing: Captures frames at 640x480 resolution, converts BGR to RGB, runs inference in 32.4 ms.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Dynamic Class Extraction: Detects bounding boxes [xmin, ymin, xmax, ymax], class labels, and confidence probabilities.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Thread-Safe State Synchronization: Employs threading.Lock() to prevent race conditions during multi-client MJPEG streaming.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Fault-Tolerant Multi-Tier Translation Cascade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Tier 1 (Instant Offline Dictionary): Pre-compiled lexical mapping for 80+ COCO objects across 6 languages with 0.85 ms lookup.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Tier 2 (Dynamic GoogleTranslator): Deep-translator bridge handles arbitrary, dynamically detected everyday terms.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Tier 3 (MyMemory Cloud Fallback): Redundant secondary translation API intercepts rate limits (HTTP 429 Too Many Requests).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Phonetic Transliteration Engine: Converts Devanagari, Tamil, Telugu, and Kannada scripts into Latin phonetics via ITRANS.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Methodology: Speech Recognition &amp; Air-Writing Gesture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Auditory &amp; Pronunciation Feedback Engine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Native Text-to-Speech (TTS): Synthesizes audio in target language locale (ta-IN, hi-IN, fr-FR, ja-JP) so students hear native speakers.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Web Speech API Recognition: Listens to student speech input and performs phonetic comparison against expected pronunciation.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Levenshtein Distance Scoring: Calculates string edit distance ratio to produce a quantitative 0-100% accuracy score.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Instant Feedback &amp; Gamification: Score &gt;= 50% awards +10 points to SQLite database and displays celebratory visual feedback.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Kinesthetic Air-Writing Engine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MediaPipe Hands Tracking: Real-time 3D coordinate estimation for 21 hand joints at 60 FPS in browser.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Fingertip Drawing (Landmark 8): Monitors index fingertip position. Hotkey 'D' or toggle button activates pen drawing.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Dual-Mode Input: Supports both mid-air webcam finger drawing and direct touch/mouse drawing for accessibility.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Tesseract OCR Verification: Rasterized canvas strokes undergo thresholding, morphological cleanup, and character classification.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Experimental Results &amp; Benchmark Metrics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32.4 ms / Frame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YOLOv5s Inference Speed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Operates smoothly at 30.8 FPS on standard laptop CPU/GPU with no frame lag.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defRPr sz="2800" b="1">
                <a:solidFill>
                  <a:srgbClr val="22C55E"/>
                </a:solidFill>
              </a:defRPr>
            </a:pPr>
            <a:r>
              <a:t>91.2% mAP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Object Detection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Evaluated on common classroom &amp; domestic items under varying indoor lighting.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defRPr sz="2800" b="1">
                <a:solidFill>
                  <a:srgbClr val="EC4899"/>
                </a:solidFill>
              </a:defRPr>
            </a:pPr>
            <a:r>
              <a:t>95.6% Accuracy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Indic Transliteration Fidelity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Enables non-native students to pronounce Tamil/Hindi/Telugu accurately on first attempt.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931920"/>
            <a:ext cx="5212080" cy="201168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182880" rtlCol="0" anchor="ctr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89.4% &amp; 82.6%</a:t>
            </a:r>
          </a:p>
          <a:p>
            <a:pPr>
              <a:defRPr sz="1400" b="1">
                <a:solidFill>
                  <a:srgbClr val="F8FAFC"/>
                </a:solidFill>
              </a:defRPr>
            </a:pPr>
            <a:r>
              <a:t>Speech &amp; Air-Writing Accuracy</a:t>
            </a:r>
          </a:p>
          <a:p>
            <a:pPr>
              <a:defRPr sz="1100">
                <a:solidFill>
                  <a:srgbClr val="94A3B8"/>
                </a:solidFill>
              </a:defRPr>
            </a:pPr>
            <a:r>
              <a:t>High speech recognition accuracy for regional accents; 82.6% OCR stroke match.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Comparative Analysis with Existing Systems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6984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365760" tIns="274320" rtlCol="0" anchor="ctr"/>
          <a:lstStyle/>
          <a:p>
            <a:pPr algn="ctr">
              <a:defRPr sz="1600" b="1">
                <a:solidFill>
                  <a:srgbClr val="EC4899"/>
                </a:solidFill>
              </a:defRPr>
            </a:pPr>
            <a:r>
              <a:t>Feature Matrix: VocabARy vs Traditional &amp; Commercial Solutions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Feature                          | Google Lens AR       | Duolingo / Mondly AR | Traditional Flashcards | PROPOSED VocabARy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-------------------------------------------------------------------------------------------------------------------------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Real-Time Object Detection       | Static photo upload  | Pre-made 3D avatar   | None                   | Real-Time Live Camera (YOLOv5s)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Indic Language Transliteration   | Translation only     | Absent               | None                   | Full (Tamil, Telugu, Kannada, Hindi)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Speech Recognition Feedback      | No Pronounce Scoring | Standard audio check | None                   | Dynamic Web Speech + Levenshtein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Touchless Air-Writing Gesture    | None                 | None                 | None                   | MediaPipe Hands 3D + Tesseract OCR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Hardware Requirement            | Smartphone only      | Mobile app / iOS     | Printed paper          | Universal (Browser-Based, Zero Install)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Offline Operation Resilience     | Requires Internet    | Requires Internet    | Offline                | 100% Offline Multi-Tier Dictionary</a:t>
            </a:r>
          </a:p>
          <a:p>
            <a:pPr>
              <a:defRPr sz="1100">
                <a:solidFill>
                  <a:srgbClr val="F8FAFC"/>
                </a:solidFill>
                <a:latin typeface="Courier New"/>
              </a:defRPr>
            </a:pPr>
            <a:r>
              <a:t>Gamification &amp; Progress Tracking | None                 | Points &amp; Streaks     | None                   | Points, Leveling, Mastery Badges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C4899"/>
                </a:solidFill>
              </a:defRPr>
            </a:pPr>
            <a:r>
              <a:t>CSI4005: AUGMENTED REALITY AND VIRTUAL REALITY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Conclusion &amp; Future Research Directions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22C55E"/>
                </a:solidFill>
              </a:defRPr>
            </a:pPr>
            <a:r>
              <a:t>Conclusions &amp; Achievements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Successfully Built &amp; Deployed: A working full-stack Django AR/AI platform running at 30 FPS.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Validated Multi-Sensory Dual Coding: Combining visual object tags, auditory native speech, and kinesthetic air-writing maximizes vocabulary retention.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Zero-Cost Universal Accessibility: Operates on commodity hardware inside standard browsers without specialized AR goggles.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Cultural &amp; Linguistic Inclusion: Brought regional Indian languages into the AR education frontier alongside global languages.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274320" tIns="274320" rIns="274320" rtlCol="0" anchor="ctr"/>
          <a:lstStyle/>
          <a:p>
            <a:pPr algn="ctr">
              <a:defRPr sz="1600" b="1">
                <a:solidFill>
                  <a:srgbClr val="38BDF8"/>
                </a:solidFill>
              </a:defRPr>
            </a:pPr>
            <a:r>
              <a:t>Future Enhancements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WebXR 3D Spatial Anchoring: Anchor 3D translated holographic labels directly to real-world objects using WebXR Device API.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Open-Vocabulary Zero-Shot Detection: Integrate Contrastive Language-Image Pretraining (CLIP) to detect thousands of rare objects beyond COCO.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On-Device Multilingual Speech (Whisper Tiny): Replace cloud speech APIs with quantized local models for full offline auditory scoring.</a:t>
            </a:r>
          </a:p>
          <a:p>
            <a:pPr>
              <a:spcBef>
                <a:spcPts val="800"/>
              </a:spcBef>
              <a:defRPr sz="1300">
                <a:solidFill>
                  <a:srgbClr val="F8FAFC"/>
                </a:solidFill>
              </a:defRPr>
            </a:pPr>
            <a:r>
              <a:t>• Mobile PWA &amp; AR Glasses Deployment: Package as lightweight Progressive Web App for smart glasses (Meta Ray-Ban / Quest 3 passthrough).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1531</Words>
  <Application>Microsoft Office PowerPoint</Application>
  <PresentationFormat>Widescreen</PresentationFormat>
  <Paragraphs>116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Hasika MD</cp:lastModifiedBy>
  <cp:revision>3</cp:revision>
  <dcterms:created xsi:type="dcterms:W3CDTF">2013-01-27T09:14:16Z</dcterms:created>
  <dcterms:modified xsi:type="dcterms:W3CDTF">2026-10-20T04:38:05Z</dcterms:modified>
  <cp:category/>
</cp:coreProperties>
</file>